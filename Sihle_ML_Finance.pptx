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7" Type="http://schemas.openxmlformats.org/officeDocument/2006/relationships/viewProps" Target="viewProps.xml" /><Relationship Id="rId6" Type="http://schemas.openxmlformats.org/officeDocument/2006/relationships/presProps" Target="presProps.xml" /><Relationship Id="rId1" Type="http://schemas.openxmlformats.org/officeDocument/2006/relationships/slideMaster" Target="slideMasters/slideMaster1.xml" /><Relationship Id="rId9" Type="http://schemas.openxmlformats.org/officeDocument/2006/relationships/tableStyles" Target="tableStyles.xml" /><Relationship Id="rId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ML for Finance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4.2 — ML in Finance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a:t>
            </a:r>
          </a:p>
        </p:txBody>
      </p:sp>
      <p:sp>
        <p:nvSpPr>
          <p:cNvPr id="3" name="Content Placeholder 2"/>
          <p:cNvSpPr>
            <a:spLocks noGrp="1"/>
          </p:cNvSpPr>
          <p:nvPr>
            <p:ph idx="1"/>
          </p:nvPr>
        </p:nvSpPr>
        <p:spPr/>
        <p:txBody>
          <a:bodyPr/>
          <a:lstStyle/>
          <a:p>
            <a:pPr lvl="0" indent="0" marL="0">
              <a:buNone/>
            </a:pPr>
            <a:r>
              <a:rPr b="1"/>
              <a:t>Objectives</a:t>
            </a:r>
          </a:p>
          <a:p>
            <a:pPr lvl="0" indent="0" marL="0">
              <a:buNone/>
            </a:pPr>
            <a:r>
              <a:rPr/>
              <a:t>By the end of this section you will be able to:</a:t>
            </a:r>
          </a:p>
          <a:p>
            <a:pPr lvl="0"/>
            <a:r>
              <a:rPr/>
              <a:t>Build a credit scoring model using Gradient Boosting.</a:t>
            </a:r>
          </a:p>
          <a:p>
            <a:pPr lvl="0"/>
            <a:r>
              <a:rPr/>
              <a:t>Evaluate a financial risk model with AUC-ROC and a classification report.</a:t>
            </a:r>
          </a:p>
          <a:p>
            <a:pPr lvl="0"/>
            <a:r>
              <a:rPr/>
              <a:t>Apply Isolation Forest for unsupervised fraud and anomaly detection.</a:t>
            </a:r>
          </a:p>
          <a:p>
            <a:pPr lvl="0"/>
            <a:r>
              <a:rPr/>
              <a:t>Discuss ethical considerations in algorithmic financial decision-making.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a:t>
            </a:r>
          </a:p>
        </p:txBody>
      </p:sp>
      <p:sp>
        <p:nvSpPr>
          <p:cNvPr id="3" name="Content Placeholder 2"/>
          <p:cNvSpPr>
            <a:spLocks noGrp="1"/>
          </p:cNvSpPr>
          <p:nvPr>
            <p:ph idx="1"/>
          </p:nvPr>
        </p:nvSpPr>
        <p:spPr/>
        <p:txBody>
          <a:bodyPr/>
          <a:lstStyle/>
          <a:p>
            <a:pPr lvl="0" indent="0" marL="1270000">
              <a:buNone/>
            </a:pPr>
            <a:r>
              <a:rPr sz="2000" b="1"/>
              <a:t>Cooking analogy:</a:t>
            </a:r>
            <a:r>
              <a:rPr sz="2000"/>
              <a:t> A finance team is like a </a:t>
            </a:r>
            <a:r>
              <a:rPr sz="2000" b="1"/>
              <a:t>head chef managing a large restaurant kitchen</a:t>
            </a:r>
            <a:r>
              <a:rPr sz="2000"/>
              <a:t>: they must decide which suppliers (borrowers) are reliable, flag any ingredient (transaction) that smells off before it contaminates the whole batch, and balance the menu (portfolio) so no single dish dominates. ML automates these quality-control decisions at scale and with far greater consistency than manual inspection alone.</a:t>
            </a:r>
          </a:p>
          <a:p>
            <a:pPr lvl="0" indent="0" marL="0">
              <a:buNone/>
            </a:pPr>
            <a:r>
              <a:rPr/>
              <a:t>Finance teams use ML for credit scoring, fraud detection, portfolio management, and risk assessment.</a:t>
            </a:r>
          </a:p>
          <a:p>
            <a:pPr lvl="0" indent="0" marL="0">
              <a:spcBef>
                <a:spcPts val="3000"/>
              </a:spcBef>
              <a:buNone/>
            </a:pPr>
            <a:r>
              <a:rPr b="1"/>
              <a:t>Credit Scoring Model</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for Finance</dc:title>
  <dc:creator/>
  <cp:keywords/>
  <dcterms:created xsi:type="dcterms:W3CDTF">2026-05-27T03:12:53Z</dcterms:created>
  <dcterms:modified xsi:type="dcterms:W3CDTF">2026-05-27T03:12:53Z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ngines">
    <vt:lpwstr/>
  </property>
  <property fmtid="{D5CDD505-2E9C-101B-9397-08002B2CF9AE}" pid="4" name="font">
    <vt:lpwstr>times new roman</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